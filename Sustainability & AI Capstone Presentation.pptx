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6858000" cx="12192000"/>
  <p:notesSz cx="6858000" cy="9144000"/>
  <p:embeddedFontLst>
    <p:embeddedFont>
      <p:font typeface="Urbanis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Urbanist-regular.fntdata"/><Relationship Id="rId10" Type="http://schemas.openxmlformats.org/officeDocument/2006/relationships/slide" Target="slides/slide5.xml"/><Relationship Id="rId13" Type="http://schemas.openxmlformats.org/officeDocument/2006/relationships/font" Target="fonts/Urbanist-italic.fntdata"/><Relationship Id="rId12" Type="http://schemas.openxmlformats.org/officeDocument/2006/relationships/font" Target="fonts/Urbanis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Urbanis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167950" y="3021000"/>
            <a:ext cx="7856100" cy="408000"/>
          </a:xfrm>
          <a:prstGeom prst="rect">
            <a:avLst/>
          </a:prstGeom>
          <a:noFill/>
          <a:ln>
            <a:noFill/>
          </a:ln>
        </p:spPr>
        <p:txBody>
          <a:bodyPr anchorCtr="0" anchor="t" bIns="0" lIns="0" spcFirstLastPara="1" rIns="0" wrap="square" tIns="0">
            <a:spAutoFit/>
          </a:bodyPr>
          <a:lstStyle/>
          <a:p>
            <a:pPr indent="0" lvl="0" marL="0" marR="0" rtl="0" algn="ctr">
              <a:lnSpc>
                <a:spcPct val="139948"/>
              </a:lnSpc>
              <a:spcBef>
                <a:spcPts val="0"/>
              </a:spcBef>
              <a:spcAft>
                <a:spcPts val="0"/>
              </a:spcAft>
              <a:buNone/>
            </a:pPr>
            <a:r>
              <a:rPr b="1" i="0" lang="en-US" sz="2650" u="none" cap="none" strike="noStrike">
                <a:solidFill>
                  <a:srgbClr val="DEFF9A"/>
                </a:solidFill>
                <a:latin typeface="Urbanist"/>
                <a:ea typeface="Urbanist"/>
                <a:cs typeface="Urbanist"/>
                <a:sym typeface="Urbanist"/>
              </a:rPr>
              <a:t>Name:</a:t>
            </a:r>
            <a:r>
              <a:rPr b="0" i="0" lang="en-US" sz="2650" u="none" cap="none" strike="noStrike">
                <a:solidFill>
                  <a:srgbClr val="A3A3A3"/>
                </a:solidFill>
                <a:latin typeface="Urbanist"/>
                <a:ea typeface="Urbanist"/>
                <a:cs typeface="Urbanist"/>
                <a:sym typeface="Urbanist"/>
              </a:rPr>
              <a:t> </a:t>
            </a:r>
            <a:r>
              <a:rPr lang="en-US" sz="2650">
                <a:solidFill>
                  <a:srgbClr val="A3A3A3"/>
                </a:solidFill>
                <a:latin typeface="Urbanist"/>
                <a:ea typeface="Urbanist"/>
                <a:cs typeface="Urbanist"/>
                <a:sym typeface="Urbanist"/>
              </a:rPr>
              <a:t>Smeet Vaghela</a:t>
            </a:r>
            <a:r>
              <a:rPr b="0" i="0" lang="en-US" sz="2650" u="none" cap="none" strike="noStrike">
                <a:solidFill>
                  <a:srgbClr val="A3A3A3"/>
                </a:solidFill>
                <a:latin typeface="Urbanist"/>
                <a:ea typeface="Urbanist"/>
                <a:cs typeface="Urbanist"/>
                <a:sym typeface="Urbanist"/>
              </a:rPr>
              <a:t> |  </a:t>
            </a:r>
            <a:r>
              <a:rPr b="1" i="0" lang="en-US" sz="2650" u="none" cap="none" strike="noStrike">
                <a:solidFill>
                  <a:srgbClr val="DEFF9A"/>
                </a:solidFill>
                <a:latin typeface="Urbanist"/>
                <a:ea typeface="Urbanist"/>
                <a:cs typeface="Urbanist"/>
                <a:sym typeface="Urbanist"/>
              </a:rPr>
              <a:t>Enrollment:</a:t>
            </a:r>
            <a:r>
              <a:rPr lang="en-US" sz="2650">
                <a:solidFill>
                  <a:srgbClr val="A3A3A3"/>
                </a:solidFill>
                <a:latin typeface="Urbanist"/>
                <a:ea typeface="Urbanist"/>
                <a:cs typeface="Urbanist"/>
                <a:sym typeface="Urbanist"/>
              </a:rPr>
              <a:t> 230840131131</a:t>
            </a:r>
            <a:endParaRPr sz="2100"/>
          </a:p>
        </p:txBody>
      </p:sp>
      <p:sp>
        <p:nvSpPr>
          <p:cNvPr id="86" name="Google Shape;86;p13"/>
          <p:cNvSpPr txBox="1"/>
          <p:nvPr/>
        </p:nvSpPr>
        <p:spPr>
          <a:xfrm>
            <a:off x="1377350" y="3697625"/>
            <a:ext cx="9756000" cy="300300"/>
          </a:xfrm>
          <a:prstGeom prst="rect">
            <a:avLst/>
          </a:prstGeom>
          <a:noFill/>
          <a:ln>
            <a:noFill/>
          </a:ln>
        </p:spPr>
        <p:txBody>
          <a:bodyPr anchorCtr="0" anchor="t" bIns="0" lIns="0" spcFirstLastPara="1" rIns="0" wrap="square" tIns="0">
            <a:spAutoFit/>
          </a:bodyPr>
          <a:lstStyle/>
          <a:p>
            <a:pPr indent="0" lvl="0" marL="0" marR="0" rtl="0" algn="ctr">
              <a:lnSpc>
                <a:spcPct val="139948"/>
              </a:lnSpc>
              <a:spcBef>
                <a:spcPts val="0"/>
              </a:spcBef>
              <a:spcAft>
                <a:spcPts val="0"/>
              </a:spcAft>
              <a:buNone/>
            </a:pPr>
            <a:r>
              <a:rPr b="1" i="0" lang="en-US" sz="1950" u="none" cap="none" strike="noStrike">
                <a:solidFill>
                  <a:srgbClr val="DEFF9A"/>
                </a:solidFill>
                <a:latin typeface="Urbanist"/>
                <a:ea typeface="Urbanist"/>
                <a:cs typeface="Urbanist"/>
                <a:sym typeface="Urbanist"/>
              </a:rPr>
              <a:t>Stream:</a:t>
            </a:r>
            <a:r>
              <a:rPr lang="en-US" sz="1950">
                <a:solidFill>
                  <a:srgbClr val="A3A3A3"/>
                </a:solidFill>
                <a:latin typeface="Urbanist"/>
                <a:ea typeface="Urbanist"/>
                <a:cs typeface="Urbanist"/>
                <a:sym typeface="Urbanist"/>
              </a:rPr>
              <a:t> Computer Science &amp; Engineering </a:t>
            </a:r>
            <a:r>
              <a:rPr b="0" i="0" lang="en-US" sz="1950" u="none" cap="none" strike="noStrike">
                <a:solidFill>
                  <a:srgbClr val="A3A3A3"/>
                </a:solidFill>
                <a:latin typeface="Urbanist"/>
                <a:ea typeface="Urbanist"/>
                <a:cs typeface="Urbanist"/>
                <a:sym typeface="Urbanist"/>
              </a:rPr>
              <a:t> |  </a:t>
            </a:r>
            <a:r>
              <a:rPr b="1" i="0" lang="en-US" sz="1950" u="none" cap="none" strike="noStrike">
                <a:solidFill>
                  <a:srgbClr val="DEFF9A"/>
                </a:solidFill>
                <a:latin typeface="Urbanist"/>
                <a:ea typeface="Urbanist"/>
                <a:cs typeface="Urbanist"/>
                <a:sym typeface="Urbanist"/>
              </a:rPr>
              <a:t>College:</a:t>
            </a:r>
            <a:r>
              <a:rPr lang="en-US" sz="1950">
                <a:solidFill>
                  <a:srgbClr val="A3A3A3"/>
                </a:solidFill>
                <a:latin typeface="Urbanist"/>
                <a:ea typeface="Urbanist"/>
                <a:cs typeface="Urbanist"/>
                <a:sym typeface="Urbanist"/>
              </a:rPr>
              <a:t> R. N.G. Patel Institute Of Technology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6334125" y="1784895"/>
            <a:ext cx="5286375" cy="4286250"/>
          </a:xfrm>
          <a:prstGeom prst="rect">
            <a:avLst/>
          </a:prstGeom>
          <a:noFill/>
          <a:ln>
            <a:noFill/>
          </a:ln>
        </p:spPr>
      </p:pic>
      <p:sp>
        <p:nvSpPr>
          <p:cNvPr id="93" name="Google Shape;93;p14"/>
          <p:cNvSpPr txBox="1"/>
          <p:nvPr/>
        </p:nvSpPr>
        <p:spPr>
          <a:xfrm>
            <a:off x="571500" y="571500"/>
            <a:ext cx="11601450" cy="617190"/>
          </a:xfrm>
          <a:prstGeom prst="rect">
            <a:avLst/>
          </a:prstGeom>
          <a:noFill/>
          <a:ln>
            <a:noFill/>
          </a:ln>
        </p:spPr>
        <p:txBody>
          <a:bodyPr anchorCtr="0" anchor="t" bIns="0" lIns="0" spcFirstLastPara="1" rIns="0" wrap="square" tIns="0">
            <a:spAutoFit/>
          </a:bodyPr>
          <a:lstStyle/>
          <a:p>
            <a:pPr indent="0" lvl="0" marL="0" marR="0" rtl="0" algn="l">
              <a:lnSpc>
                <a:spcPct val="119975"/>
              </a:lnSpc>
              <a:spcBef>
                <a:spcPts val="0"/>
              </a:spcBef>
              <a:spcAft>
                <a:spcPts val="0"/>
              </a:spcAft>
              <a:buNone/>
            </a:pPr>
            <a:r>
              <a:rPr b="1" i="0" lang="en-US" sz="4050" u="none" cap="none" strike="noStrike">
                <a:solidFill>
                  <a:srgbClr val="F5F5F5"/>
                </a:solidFill>
                <a:latin typeface="Urbanist"/>
                <a:ea typeface="Urbanist"/>
                <a:cs typeface="Urbanist"/>
                <a:sym typeface="Urbanist"/>
              </a:rPr>
              <a:t>Key Insights &amp; </a:t>
            </a:r>
            <a:r>
              <a:rPr b="1" i="0" lang="en-US" sz="4050" u="none" cap="none" strike="noStrike">
                <a:solidFill>
                  <a:srgbClr val="DEFF9A"/>
                </a:solidFill>
                <a:latin typeface="Urbanist"/>
                <a:ea typeface="Urbanist"/>
                <a:cs typeface="Urbanist"/>
                <a:sym typeface="Urbanist"/>
              </a:rPr>
              <a:t>SDG 17</a:t>
            </a:r>
            <a:endParaRPr/>
          </a:p>
        </p:txBody>
      </p:sp>
      <p:sp>
        <p:nvSpPr>
          <p:cNvPr id="94" name="Google Shape;94;p14"/>
          <p:cNvSpPr txBox="1"/>
          <p:nvPr/>
        </p:nvSpPr>
        <p:spPr>
          <a:xfrm>
            <a:off x="904875" y="1798885"/>
            <a:ext cx="495300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5F5F5"/>
                </a:solidFill>
                <a:latin typeface="Urbanist"/>
                <a:ea typeface="Urbanist"/>
                <a:cs typeface="Urbanist"/>
                <a:sym typeface="Urbanist"/>
              </a:rPr>
              <a:t>SDG 17 (Partnerships for the Goals)</a:t>
            </a:r>
            <a:r>
              <a:rPr b="0" i="0" lang="en-US" sz="1650" u="none" cap="none" strike="noStrike">
                <a:solidFill>
                  <a:srgbClr val="F5F5F5"/>
                </a:solidFill>
                <a:latin typeface="Urbanist"/>
                <a:ea typeface="Urbanist"/>
                <a:cs typeface="Urbanist"/>
                <a:sym typeface="Urbanist"/>
              </a:rPr>
              <a:t> is the foundation for achieving all other sustainable targets by pooling global resources, technology, and capital.</a:t>
            </a:r>
            <a:endParaRPr/>
          </a:p>
        </p:txBody>
      </p:sp>
      <p:sp>
        <p:nvSpPr>
          <p:cNvPr id="95" name="Google Shape;95;p14"/>
          <p:cNvSpPr txBox="1"/>
          <p:nvPr/>
        </p:nvSpPr>
        <p:spPr>
          <a:xfrm>
            <a:off x="904875" y="2994868"/>
            <a:ext cx="4953000" cy="1473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5F5F5"/>
                </a:solidFill>
                <a:latin typeface="Urbanist"/>
                <a:ea typeface="Urbanist"/>
                <a:cs typeface="Urbanist"/>
                <a:sym typeface="Urbanist"/>
              </a:rPr>
              <a:t>The Hidden Cost of Tech:</a:t>
            </a:r>
            <a:r>
              <a:rPr b="0" i="0" lang="en-US" sz="1650" u="none" cap="none" strike="noStrike">
                <a:solidFill>
                  <a:srgbClr val="F5F5F5"/>
                </a:solidFill>
                <a:latin typeface="Urbanist"/>
                <a:ea typeface="Urbanist"/>
                <a:cs typeface="Urbanist"/>
                <a:sym typeface="Urbanist"/>
              </a:rPr>
              <a:t> Documentaries reveal that global </a:t>
            </a:r>
            <a:r>
              <a:rPr lang="en-US" sz="1650">
                <a:solidFill>
                  <a:srgbClr val="F5F5F5"/>
                </a:solidFill>
                <a:latin typeface="Urbanist"/>
                <a:ea typeface="Urbanist"/>
                <a:cs typeface="Urbanist"/>
                <a:sym typeface="Urbanist"/>
              </a:rPr>
              <a:t>data centers</a:t>
            </a:r>
            <a:r>
              <a:rPr b="0" i="0" lang="en-US" sz="1650" u="none" cap="none" strike="noStrike">
                <a:solidFill>
                  <a:srgbClr val="F5F5F5"/>
                </a:solidFill>
                <a:latin typeface="Urbanist"/>
                <a:ea typeface="Urbanist"/>
                <a:cs typeface="Urbanist"/>
                <a:sym typeface="Urbanist"/>
              </a:rPr>
              <a:t> consume millions of gallons of water and vast amounts of electricity daily to train models.</a:t>
            </a:r>
            <a:endParaRPr/>
          </a:p>
        </p:txBody>
      </p:sp>
      <p:sp>
        <p:nvSpPr>
          <p:cNvPr id="96" name="Google Shape;96;p14"/>
          <p:cNvSpPr txBox="1"/>
          <p:nvPr/>
        </p:nvSpPr>
        <p:spPr>
          <a:xfrm>
            <a:off x="904875" y="4526012"/>
            <a:ext cx="49530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5F5F5"/>
                </a:solidFill>
                <a:latin typeface="Urbanist"/>
                <a:ea typeface="Urbanist"/>
                <a:cs typeface="Urbanist"/>
                <a:sym typeface="Urbanist"/>
              </a:rPr>
              <a:t>Systemic Change:</a:t>
            </a:r>
            <a:r>
              <a:rPr b="0" i="0" lang="en-US" sz="1650" u="none" cap="none" strike="noStrike">
                <a:solidFill>
                  <a:srgbClr val="F5F5F5"/>
                </a:solidFill>
                <a:latin typeface="Urbanist"/>
                <a:ea typeface="Urbanist"/>
                <a:cs typeface="Urbanist"/>
                <a:sym typeface="Urbanist"/>
              </a:rPr>
              <a:t> True sustainability requires aligned government policies, cross-border cooperation, and transparent tracking of corporate environmental footprints.</a:t>
            </a:r>
            <a:endParaRPr/>
          </a:p>
        </p:txBody>
      </p:sp>
      <p:pic>
        <p:nvPicPr>
          <p:cNvPr descr="image.png" id="97" name="Google Shape;97;p14"/>
          <p:cNvPicPr preferRelativeResize="0"/>
          <p:nvPr/>
        </p:nvPicPr>
        <p:blipFill rotWithShape="1">
          <a:blip r:embed="rId5">
            <a:alphaModFix/>
          </a:blip>
          <a:srcRect b="0" l="0" r="0" t="0"/>
          <a:stretch/>
        </p:blipFill>
        <p:spPr>
          <a:xfrm>
            <a:off x="6353175" y="1803945"/>
            <a:ext cx="5248275" cy="4248150"/>
          </a:xfrm>
          <a:prstGeom prst="rect">
            <a:avLst/>
          </a:prstGeom>
          <a:noFill/>
          <a:ln>
            <a:noFill/>
          </a:ln>
        </p:spPr>
      </p:pic>
      <p:pic>
        <p:nvPicPr>
          <p:cNvPr descr="image.png" id="98" name="Google Shape;98;p14"/>
          <p:cNvPicPr preferRelativeResize="0"/>
          <p:nvPr/>
        </p:nvPicPr>
        <p:blipFill rotWithShape="1">
          <a:blip r:embed="rId6">
            <a:alphaModFix/>
          </a:blip>
          <a:srcRect b="0" l="0" r="0" t="0"/>
          <a:stretch/>
        </p:blipFill>
        <p:spPr>
          <a:xfrm>
            <a:off x="571500" y="1846510"/>
            <a:ext cx="190500" cy="200025"/>
          </a:xfrm>
          <a:prstGeom prst="rect">
            <a:avLst/>
          </a:prstGeom>
          <a:noFill/>
          <a:ln>
            <a:noFill/>
          </a:ln>
        </p:spPr>
      </p:pic>
      <p:pic>
        <p:nvPicPr>
          <p:cNvPr descr="image.png" id="99" name="Google Shape;99;p14"/>
          <p:cNvPicPr preferRelativeResize="0"/>
          <p:nvPr/>
        </p:nvPicPr>
        <p:blipFill rotWithShape="1">
          <a:blip r:embed="rId6">
            <a:alphaModFix/>
          </a:blip>
          <a:srcRect b="0" l="0" r="0" t="0"/>
          <a:stretch/>
        </p:blipFill>
        <p:spPr>
          <a:xfrm>
            <a:off x="571500" y="3042493"/>
            <a:ext cx="190500" cy="200025"/>
          </a:xfrm>
          <a:prstGeom prst="rect">
            <a:avLst/>
          </a:prstGeom>
          <a:noFill/>
          <a:ln>
            <a:noFill/>
          </a:ln>
        </p:spPr>
      </p:pic>
      <p:pic>
        <p:nvPicPr>
          <p:cNvPr descr="image.png" id="100" name="Google Shape;100;p14"/>
          <p:cNvPicPr preferRelativeResize="0"/>
          <p:nvPr/>
        </p:nvPicPr>
        <p:blipFill rotWithShape="1">
          <a:blip r:embed="rId6">
            <a:alphaModFix/>
          </a:blip>
          <a:srcRect b="0" l="0" r="0" t="0"/>
          <a:stretch/>
        </p:blipFill>
        <p:spPr>
          <a:xfrm>
            <a:off x="571500" y="4573637"/>
            <a:ext cx="19050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6" name="Google Shape;106;p15"/>
          <p:cNvPicPr preferRelativeResize="0"/>
          <p:nvPr/>
        </p:nvPicPr>
        <p:blipFill rotWithShape="1">
          <a:blip r:embed="rId4">
            <a:alphaModFix/>
          </a:blip>
          <a:srcRect b="0" l="0" r="0" t="0"/>
          <a:stretch/>
        </p:blipFill>
        <p:spPr>
          <a:xfrm>
            <a:off x="571500" y="1569690"/>
            <a:ext cx="5381625" cy="2215455"/>
          </a:xfrm>
          <a:prstGeom prst="rect">
            <a:avLst/>
          </a:prstGeom>
          <a:noFill/>
          <a:ln>
            <a:noFill/>
          </a:ln>
        </p:spPr>
      </p:pic>
      <p:pic>
        <p:nvPicPr>
          <p:cNvPr descr="image.png" id="107" name="Google Shape;107;p15"/>
          <p:cNvPicPr preferRelativeResize="0"/>
          <p:nvPr/>
        </p:nvPicPr>
        <p:blipFill rotWithShape="1">
          <a:blip r:embed="rId5">
            <a:alphaModFix/>
          </a:blip>
          <a:srcRect b="0" l="0" r="0" t="0"/>
          <a:stretch/>
        </p:blipFill>
        <p:spPr>
          <a:xfrm>
            <a:off x="6238875" y="1569690"/>
            <a:ext cx="5381625" cy="2215455"/>
          </a:xfrm>
          <a:prstGeom prst="rect">
            <a:avLst/>
          </a:prstGeom>
          <a:noFill/>
          <a:ln>
            <a:noFill/>
          </a:ln>
        </p:spPr>
      </p:pic>
      <p:pic>
        <p:nvPicPr>
          <p:cNvPr descr="image.png" id="108" name="Google Shape;108;p15"/>
          <p:cNvPicPr preferRelativeResize="0"/>
          <p:nvPr/>
        </p:nvPicPr>
        <p:blipFill rotWithShape="1">
          <a:blip r:embed="rId6">
            <a:alphaModFix/>
          </a:blip>
          <a:srcRect b="0" l="0" r="0" t="0"/>
          <a:stretch/>
        </p:blipFill>
        <p:spPr>
          <a:xfrm>
            <a:off x="571500" y="4070895"/>
            <a:ext cx="5381625" cy="2215604"/>
          </a:xfrm>
          <a:prstGeom prst="rect">
            <a:avLst/>
          </a:prstGeom>
          <a:noFill/>
          <a:ln>
            <a:noFill/>
          </a:ln>
        </p:spPr>
      </p:pic>
      <p:pic>
        <p:nvPicPr>
          <p:cNvPr descr="image.png" id="109" name="Google Shape;109;p15"/>
          <p:cNvPicPr preferRelativeResize="0"/>
          <p:nvPr/>
        </p:nvPicPr>
        <p:blipFill rotWithShape="1">
          <a:blip r:embed="rId7">
            <a:alphaModFix/>
          </a:blip>
          <a:srcRect b="0" l="0" r="0" t="0"/>
          <a:stretch/>
        </p:blipFill>
        <p:spPr>
          <a:xfrm>
            <a:off x="6238875" y="4070895"/>
            <a:ext cx="5381625" cy="2215604"/>
          </a:xfrm>
          <a:prstGeom prst="rect">
            <a:avLst/>
          </a:prstGeom>
          <a:noFill/>
          <a:ln>
            <a:noFill/>
          </a:ln>
        </p:spPr>
      </p:pic>
      <p:sp>
        <p:nvSpPr>
          <p:cNvPr id="110" name="Google Shape;110;p15"/>
          <p:cNvSpPr txBox="1"/>
          <p:nvPr/>
        </p:nvSpPr>
        <p:spPr>
          <a:xfrm>
            <a:off x="571500" y="571500"/>
            <a:ext cx="11601450" cy="617190"/>
          </a:xfrm>
          <a:prstGeom prst="rect">
            <a:avLst/>
          </a:prstGeom>
          <a:noFill/>
          <a:ln>
            <a:noFill/>
          </a:ln>
        </p:spPr>
        <p:txBody>
          <a:bodyPr anchorCtr="0" anchor="t" bIns="0" lIns="0" spcFirstLastPara="1" rIns="0" wrap="square" tIns="0">
            <a:spAutoFit/>
          </a:bodyPr>
          <a:lstStyle/>
          <a:p>
            <a:pPr indent="0" lvl="0" marL="0" marR="0" rtl="0" algn="l">
              <a:lnSpc>
                <a:spcPct val="119975"/>
              </a:lnSpc>
              <a:spcBef>
                <a:spcPts val="0"/>
              </a:spcBef>
              <a:spcAft>
                <a:spcPts val="0"/>
              </a:spcAft>
              <a:buNone/>
            </a:pPr>
            <a:r>
              <a:rPr b="1" i="0" lang="en-US" sz="4050" u="none" cap="none" strike="noStrike">
                <a:solidFill>
                  <a:srgbClr val="F5F5F5"/>
                </a:solidFill>
                <a:latin typeface="Urbanist"/>
                <a:ea typeface="Urbanist"/>
                <a:cs typeface="Urbanist"/>
                <a:sym typeface="Urbanist"/>
              </a:rPr>
              <a:t>Interactive Tool </a:t>
            </a:r>
            <a:r>
              <a:rPr b="1" i="0" lang="en-US" sz="4050" u="none" cap="none" strike="noStrike">
                <a:solidFill>
                  <a:srgbClr val="DEFF9A"/>
                </a:solidFill>
                <a:latin typeface="Urbanist"/>
                <a:ea typeface="Urbanist"/>
                <a:cs typeface="Urbanist"/>
                <a:sym typeface="Urbanist"/>
              </a:rPr>
              <a:t>Glances</a:t>
            </a:r>
            <a:endParaRPr/>
          </a:p>
        </p:txBody>
      </p:sp>
      <p:sp>
        <p:nvSpPr>
          <p:cNvPr id="111" name="Google Shape;111;p15"/>
          <p:cNvSpPr txBox="1"/>
          <p:nvPr/>
        </p:nvSpPr>
        <p:spPr>
          <a:xfrm>
            <a:off x="866775" y="2579340"/>
            <a:ext cx="4791075"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FCFCF"/>
                </a:solidFill>
                <a:latin typeface="Urbanist"/>
                <a:ea typeface="Urbanist"/>
                <a:cs typeface="Urbanist"/>
                <a:sym typeface="Urbanist"/>
              </a:rPr>
              <a:t>An interactive climate policy model that allows users to test strategies (like carbon pricing or energy efficiency) to see real-time impacts on global temperature.</a:t>
            </a:r>
            <a:endParaRPr/>
          </a:p>
        </p:txBody>
      </p:sp>
      <p:sp>
        <p:nvSpPr>
          <p:cNvPr id="112" name="Google Shape;112;p15"/>
          <p:cNvSpPr txBox="1"/>
          <p:nvPr/>
        </p:nvSpPr>
        <p:spPr>
          <a:xfrm>
            <a:off x="6534150" y="2579340"/>
            <a:ext cx="4791075"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FCFCF"/>
                </a:solidFill>
                <a:latin typeface="Urbanist"/>
                <a:ea typeface="Urbanist"/>
                <a:cs typeface="Urbanist"/>
                <a:sym typeface="Urbanist"/>
              </a:rPr>
              <a:t>A calculator that measures personal resource consumption and compares it against the Earth's biocapacity, illustrating our individual overshoot.</a:t>
            </a:r>
            <a:endParaRPr/>
          </a:p>
        </p:txBody>
      </p:sp>
      <p:sp>
        <p:nvSpPr>
          <p:cNvPr id="113" name="Google Shape;113;p15"/>
          <p:cNvSpPr txBox="1"/>
          <p:nvPr/>
        </p:nvSpPr>
        <p:spPr>
          <a:xfrm>
            <a:off x="866775" y="5080545"/>
            <a:ext cx="4791075"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FCFCF"/>
                </a:solidFill>
                <a:latin typeface="Urbanist"/>
                <a:ea typeface="Urbanist"/>
                <a:cs typeface="Urbanist"/>
                <a:sym typeface="Urbanist"/>
              </a:rPr>
              <a:t>A comprehensive tool used to calculate the environmental impacts and precise carbon emissions of global freight and transport systems.</a:t>
            </a:r>
            <a:endParaRPr/>
          </a:p>
        </p:txBody>
      </p:sp>
      <p:sp>
        <p:nvSpPr>
          <p:cNvPr id="114" name="Google Shape;114;p15"/>
          <p:cNvSpPr txBox="1"/>
          <p:nvPr/>
        </p:nvSpPr>
        <p:spPr>
          <a:xfrm>
            <a:off x="6534150" y="5080545"/>
            <a:ext cx="4791075"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FCFCF"/>
                </a:solidFill>
                <a:latin typeface="Urbanist"/>
                <a:ea typeface="Urbanist"/>
                <a:cs typeface="Urbanist"/>
                <a:sym typeface="Urbanist"/>
              </a:rPr>
              <a:t>Leveraging tools like Nando AI for rapid content creation and following channels like Gen-E Media to spread vital awareness about green technology.</a:t>
            </a:r>
            <a:endParaRPr/>
          </a:p>
        </p:txBody>
      </p:sp>
      <p:sp>
        <p:nvSpPr>
          <p:cNvPr id="115" name="Google Shape;115;p15"/>
          <p:cNvSpPr txBox="1"/>
          <p:nvPr/>
        </p:nvSpPr>
        <p:spPr>
          <a:xfrm>
            <a:off x="866775" y="1988790"/>
            <a:ext cx="255270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En-ROADS Simulator</a:t>
            </a:r>
            <a:endParaRPr/>
          </a:p>
        </p:txBody>
      </p:sp>
      <p:pic>
        <p:nvPicPr>
          <p:cNvPr descr="image.png" id="116" name="Google Shape;116;p15"/>
          <p:cNvPicPr preferRelativeResize="0"/>
          <p:nvPr/>
        </p:nvPicPr>
        <p:blipFill rotWithShape="1">
          <a:blip r:embed="rId8">
            <a:alphaModFix/>
          </a:blip>
          <a:srcRect b="0" l="0" r="0" t="0"/>
          <a:stretch/>
        </p:blipFill>
        <p:spPr>
          <a:xfrm>
            <a:off x="5086350" y="1864965"/>
            <a:ext cx="571500" cy="571500"/>
          </a:xfrm>
          <a:prstGeom prst="rect">
            <a:avLst/>
          </a:prstGeom>
          <a:noFill/>
          <a:ln>
            <a:noFill/>
          </a:ln>
        </p:spPr>
      </p:pic>
      <p:sp>
        <p:nvSpPr>
          <p:cNvPr id="117" name="Google Shape;117;p15"/>
          <p:cNvSpPr txBox="1"/>
          <p:nvPr/>
        </p:nvSpPr>
        <p:spPr>
          <a:xfrm>
            <a:off x="6534150" y="1988790"/>
            <a:ext cx="239077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Ecological Footprint</a:t>
            </a:r>
            <a:endParaRPr/>
          </a:p>
        </p:txBody>
      </p:sp>
      <p:pic>
        <p:nvPicPr>
          <p:cNvPr descr="image.png" id="118" name="Google Shape;118;p15"/>
          <p:cNvPicPr preferRelativeResize="0"/>
          <p:nvPr/>
        </p:nvPicPr>
        <p:blipFill rotWithShape="1">
          <a:blip r:embed="rId8">
            <a:alphaModFix/>
          </a:blip>
          <a:srcRect b="0" l="0" r="0" t="0"/>
          <a:stretch/>
        </p:blipFill>
        <p:spPr>
          <a:xfrm>
            <a:off x="10753725" y="1864965"/>
            <a:ext cx="571500" cy="571500"/>
          </a:xfrm>
          <a:prstGeom prst="rect">
            <a:avLst/>
          </a:prstGeom>
          <a:noFill/>
          <a:ln>
            <a:noFill/>
          </a:ln>
        </p:spPr>
      </p:pic>
      <p:sp>
        <p:nvSpPr>
          <p:cNvPr id="119" name="Google Shape;119;p15"/>
          <p:cNvSpPr txBox="1"/>
          <p:nvPr/>
        </p:nvSpPr>
        <p:spPr>
          <a:xfrm>
            <a:off x="866775" y="4489995"/>
            <a:ext cx="201930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EcoTransit World</a:t>
            </a:r>
            <a:endParaRPr/>
          </a:p>
        </p:txBody>
      </p:sp>
      <p:pic>
        <p:nvPicPr>
          <p:cNvPr descr="image.png" id="120" name="Google Shape;120;p15"/>
          <p:cNvPicPr preferRelativeResize="0"/>
          <p:nvPr/>
        </p:nvPicPr>
        <p:blipFill rotWithShape="1">
          <a:blip r:embed="rId9">
            <a:alphaModFix/>
          </a:blip>
          <a:srcRect b="0" l="0" r="0" t="0"/>
          <a:stretch/>
        </p:blipFill>
        <p:spPr>
          <a:xfrm>
            <a:off x="5086350" y="4366170"/>
            <a:ext cx="571500" cy="571500"/>
          </a:xfrm>
          <a:prstGeom prst="rect">
            <a:avLst/>
          </a:prstGeom>
          <a:noFill/>
          <a:ln>
            <a:noFill/>
          </a:ln>
        </p:spPr>
      </p:pic>
      <p:sp>
        <p:nvSpPr>
          <p:cNvPr id="121" name="Google Shape;121;p15"/>
          <p:cNvSpPr txBox="1"/>
          <p:nvPr/>
        </p:nvSpPr>
        <p:spPr>
          <a:xfrm>
            <a:off x="6534150" y="4489995"/>
            <a:ext cx="220027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AI &amp; Green Media</a:t>
            </a:r>
            <a:endParaRPr/>
          </a:p>
        </p:txBody>
      </p:sp>
      <p:pic>
        <p:nvPicPr>
          <p:cNvPr descr="image.png" id="122" name="Google Shape;122;p15"/>
          <p:cNvPicPr preferRelativeResize="0"/>
          <p:nvPr/>
        </p:nvPicPr>
        <p:blipFill rotWithShape="1">
          <a:blip r:embed="rId9">
            <a:alphaModFix/>
          </a:blip>
          <a:srcRect b="0" l="0" r="0" t="0"/>
          <a:stretch/>
        </p:blipFill>
        <p:spPr>
          <a:xfrm>
            <a:off x="10753725" y="4366170"/>
            <a:ext cx="571500" cy="571500"/>
          </a:xfrm>
          <a:prstGeom prst="rect">
            <a:avLst/>
          </a:prstGeom>
          <a:noFill/>
          <a:ln>
            <a:noFill/>
          </a:ln>
        </p:spPr>
      </p:pic>
      <p:pic>
        <p:nvPicPr>
          <p:cNvPr descr="image.png" id="123" name="Google Shape;123;p15"/>
          <p:cNvPicPr preferRelativeResize="0"/>
          <p:nvPr/>
        </p:nvPicPr>
        <p:blipFill rotWithShape="1">
          <a:blip r:embed="rId10">
            <a:alphaModFix/>
          </a:blip>
          <a:srcRect b="0" l="0" r="0" t="0"/>
          <a:stretch/>
        </p:blipFill>
        <p:spPr>
          <a:xfrm>
            <a:off x="5300662" y="2036415"/>
            <a:ext cx="142875" cy="228600"/>
          </a:xfrm>
          <a:prstGeom prst="rect">
            <a:avLst/>
          </a:prstGeom>
          <a:noFill/>
          <a:ln>
            <a:noFill/>
          </a:ln>
        </p:spPr>
      </p:pic>
      <p:pic>
        <p:nvPicPr>
          <p:cNvPr descr="image.png" id="124" name="Google Shape;124;p15"/>
          <p:cNvPicPr preferRelativeResize="0"/>
          <p:nvPr/>
        </p:nvPicPr>
        <p:blipFill rotWithShape="1">
          <a:blip r:embed="rId11">
            <a:alphaModFix/>
          </a:blip>
          <a:srcRect b="0" l="0" r="0" t="0"/>
          <a:stretch/>
        </p:blipFill>
        <p:spPr>
          <a:xfrm>
            <a:off x="10896600" y="2036415"/>
            <a:ext cx="285750" cy="228600"/>
          </a:xfrm>
          <a:prstGeom prst="rect">
            <a:avLst/>
          </a:prstGeom>
          <a:noFill/>
          <a:ln>
            <a:noFill/>
          </a:ln>
        </p:spPr>
      </p:pic>
      <p:pic>
        <p:nvPicPr>
          <p:cNvPr descr="image.png" id="125" name="Google Shape;125;p15"/>
          <p:cNvPicPr preferRelativeResize="0"/>
          <p:nvPr/>
        </p:nvPicPr>
        <p:blipFill rotWithShape="1">
          <a:blip r:embed="rId12">
            <a:alphaModFix/>
          </a:blip>
          <a:srcRect b="0" l="0" r="0" t="0"/>
          <a:stretch/>
        </p:blipFill>
        <p:spPr>
          <a:xfrm>
            <a:off x="5229225" y="4537620"/>
            <a:ext cx="285750" cy="228600"/>
          </a:xfrm>
          <a:prstGeom prst="rect">
            <a:avLst/>
          </a:prstGeom>
          <a:noFill/>
          <a:ln>
            <a:noFill/>
          </a:ln>
        </p:spPr>
      </p:pic>
      <p:pic>
        <p:nvPicPr>
          <p:cNvPr descr="image.png" id="126" name="Google Shape;126;p15"/>
          <p:cNvPicPr preferRelativeResize="0"/>
          <p:nvPr/>
        </p:nvPicPr>
        <p:blipFill rotWithShape="1">
          <a:blip r:embed="rId13">
            <a:alphaModFix/>
          </a:blip>
          <a:srcRect b="0" l="0" r="0" t="0"/>
          <a:stretch/>
        </p:blipFill>
        <p:spPr>
          <a:xfrm>
            <a:off x="10925175" y="4537620"/>
            <a:ext cx="228600" cy="22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30" name="Shape 130"/>
        <p:cNvGrpSpPr/>
        <p:nvPr/>
      </p:nvGrpSpPr>
      <p:grpSpPr>
        <a:xfrm>
          <a:off x="0" y="0"/>
          <a:ext cx="0" cy="0"/>
          <a:chOff x="0" y="0"/>
          <a:chExt cx="0" cy="0"/>
        </a:xfrm>
      </p:grpSpPr>
      <p:pic>
        <p:nvPicPr>
          <p:cNvPr descr="image.png" id="131" name="Google Shape;13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2" name="Google Shape;132;p16"/>
          <p:cNvPicPr preferRelativeResize="0"/>
          <p:nvPr/>
        </p:nvPicPr>
        <p:blipFill rotWithShape="1">
          <a:blip r:embed="rId4">
            <a:alphaModFix/>
          </a:blip>
          <a:srcRect b="0" l="0" r="0" t="0"/>
          <a:stretch/>
        </p:blipFill>
        <p:spPr>
          <a:xfrm>
            <a:off x="6334125" y="1784895"/>
            <a:ext cx="5286375" cy="4286250"/>
          </a:xfrm>
          <a:prstGeom prst="rect">
            <a:avLst/>
          </a:prstGeom>
          <a:noFill/>
          <a:ln>
            <a:noFill/>
          </a:ln>
        </p:spPr>
      </p:pic>
      <p:sp>
        <p:nvSpPr>
          <p:cNvPr id="133" name="Google Shape;133;p16"/>
          <p:cNvSpPr txBox="1"/>
          <p:nvPr/>
        </p:nvSpPr>
        <p:spPr>
          <a:xfrm>
            <a:off x="571500" y="571500"/>
            <a:ext cx="11601450" cy="617190"/>
          </a:xfrm>
          <a:prstGeom prst="rect">
            <a:avLst/>
          </a:prstGeom>
          <a:noFill/>
          <a:ln>
            <a:noFill/>
          </a:ln>
        </p:spPr>
        <p:txBody>
          <a:bodyPr anchorCtr="0" anchor="t" bIns="0" lIns="0" spcFirstLastPara="1" rIns="0" wrap="square" tIns="0">
            <a:spAutoFit/>
          </a:bodyPr>
          <a:lstStyle/>
          <a:p>
            <a:pPr indent="0" lvl="0" marL="0" marR="0" rtl="0" algn="l">
              <a:lnSpc>
                <a:spcPct val="119975"/>
              </a:lnSpc>
              <a:spcBef>
                <a:spcPts val="0"/>
              </a:spcBef>
              <a:spcAft>
                <a:spcPts val="0"/>
              </a:spcAft>
              <a:buNone/>
            </a:pPr>
            <a:r>
              <a:rPr b="1" i="0" lang="en-US" sz="4050" u="none" cap="none" strike="noStrike">
                <a:solidFill>
                  <a:srgbClr val="F5F5F5"/>
                </a:solidFill>
                <a:latin typeface="Urbanist"/>
                <a:ea typeface="Urbanist"/>
                <a:cs typeface="Urbanist"/>
                <a:sym typeface="Urbanist"/>
              </a:rPr>
              <a:t>Green Skilling &amp; </a:t>
            </a:r>
            <a:r>
              <a:rPr b="1" i="0" lang="en-US" sz="4050" u="none" cap="none" strike="noStrike">
                <a:solidFill>
                  <a:srgbClr val="DEFF9A"/>
                </a:solidFill>
                <a:latin typeface="Urbanist"/>
                <a:ea typeface="Urbanist"/>
                <a:cs typeface="Urbanist"/>
                <a:sym typeface="Urbanist"/>
              </a:rPr>
              <a:t>AI's Impact</a:t>
            </a:r>
            <a:endParaRPr/>
          </a:p>
        </p:txBody>
      </p:sp>
      <p:sp>
        <p:nvSpPr>
          <p:cNvPr id="134" name="Google Shape;134;p16"/>
          <p:cNvSpPr txBox="1"/>
          <p:nvPr/>
        </p:nvSpPr>
        <p:spPr>
          <a:xfrm>
            <a:off x="904875" y="1798885"/>
            <a:ext cx="49530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5F5F5"/>
                </a:solidFill>
                <a:latin typeface="Urbanist"/>
                <a:ea typeface="Urbanist"/>
                <a:cs typeface="Urbanist"/>
                <a:sym typeface="Urbanist"/>
              </a:rPr>
              <a:t>Green Skilling:</a:t>
            </a:r>
            <a:r>
              <a:rPr b="0" i="0" lang="en-US" sz="1650" u="none" cap="none" strike="noStrike">
                <a:solidFill>
                  <a:srgbClr val="F5F5F5"/>
                </a:solidFill>
                <a:latin typeface="Urbanist"/>
                <a:ea typeface="Urbanist"/>
                <a:cs typeface="Urbanist"/>
                <a:sym typeface="Urbanist"/>
              </a:rPr>
              <a:t> Equipping the workforce with the knowledge and technical abilities to transition to a cleaner economy (e.g., renewable energy maintenance, sustainable agriculture).</a:t>
            </a:r>
            <a:endParaRPr/>
          </a:p>
        </p:txBody>
      </p:sp>
      <p:sp>
        <p:nvSpPr>
          <p:cNvPr id="135" name="Google Shape;135;p16"/>
          <p:cNvSpPr txBox="1"/>
          <p:nvPr/>
        </p:nvSpPr>
        <p:spPr>
          <a:xfrm>
            <a:off x="904875" y="3330029"/>
            <a:ext cx="495300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5F5F5"/>
                </a:solidFill>
                <a:latin typeface="Urbanist"/>
                <a:ea typeface="Urbanist"/>
                <a:cs typeface="Urbanist"/>
                <a:sym typeface="Urbanist"/>
              </a:rPr>
              <a:t>The Good of AI:</a:t>
            </a:r>
            <a:r>
              <a:rPr b="0" i="0" lang="en-US" sz="1650" u="none" cap="none" strike="noStrike">
                <a:solidFill>
                  <a:srgbClr val="F5F5F5"/>
                </a:solidFill>
                <a:latin typeface="Urbanist"/>
                <a:ea typeface="Urbanist"/>
                <a:cs typeface="Urbanist"/>
                <a:sym typeface="Urbanist"/>
              </a:rPr>
              <a:t> AI optimizes smart grids, enhances environmental monitoring via satellite, and streamlines global supply chains to reduce waste.</a:t>
            </a:r>
            <a:endParaRPr/>
          </a:p>
        </p:txBody>
      </p:sp>
      <p:sp>
        <p:nvSpPr>
          <p:cNvPr id="136" name="Google Shape;136;p16"/>
          <p:cNvSpPr txBox="1"/>
          <p:nvPr/>
        </p:nvSpPr>
        <p:spPr>
          <a:xfrm>
            <a:off x="904875" y="4526012"/>
            <a:ext cx="495300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5F5F5"/>
                </a:solidFill>
                <a:latin typeface="Urbanist"/>
                <a:ea typeface="Urbanist"/>
                <a:cs typeface="Urbanist"/>
                <a:sym typeface="Urbanist"/>
              </a:rPr>
              <a:t>The Bad of AI:</a:t>
            </a:r>
            <a:r>
              <a:rPr b="0" i="0" lang="en-US" sz="1650" u="none" cap="none" strike="noStrike">
                <a:solidFill>
                  <a:srgbClr val="F5F5F5"/>
                </a:solidFill>
                <a:latin typeface="Urbanist"/>
                <a:ea typeface="Urbanist"/>
                <a:cs typeface="Urbanist"/>
                <a:sym typeface="Urbanist"/>
              </a:rPr>
              <a:t> The massive compute power required to train generative AI models creates a massive carbon footprint, exacerbates e-waste, and demands excessive water cooling.</a:t>
            </a:r>
            <a:endParaRPr/>
          </a:p>
        </p:txBody>
      </p:sp>
      <p:pic>
        <p:nvPicPr>
          <p:cNvPr descr="image.png" id="137" name="Google Shape;137;p16"/>
          <p:cNvPicPr preferRelativeResize="0"/>
          <p:nvPr/>
        </p:nvPicPr>
        <p:blipFill rotWithShape="1">
          <a:blip r:embed="rId5">
            <a:alphaModFix/>
          </a:blip>
          <a:srcRect b="0" l="0" r="0" t="0"/>
          <a:stretch/>
        </p:blipFill>
        <p:spPr>
          <a:xfrm>
            <a:off x="6353175" y="1803945"/>
            <a:ext cx="5248275" cy="4248150"/>
          </a:xfrm>
          <a:prstGeom prst="rect">
            <a:avLst/>
          </a:prstGeom>
          <a:noFill/>
          <a:ln>
            <a:noFill/>
          </a:ln>
        </p:spPr>
      </p:pic>
      <p:pic>
        <p:nvPicPr>
          <p:cNvPr descr="image.png" id="138" name="Google Shape;138;p16"/>
          <p:cNvPicPr preferRelativeResize="0"/>
          <p:nvPr/>
        </p:nvPicPr>
        <p:blipFill rotWithShape="1">
          <a:blip r:embed="rId6">
            <a:alphaModFix/>
          </a:blip>
          <a:srcRect b="0" l="0" r="0" t="0"/>
          <a:stretch/>
        </p:blipFill>
        <p:spPr>
          <a:xfrm>
            <a:off x="571500" y="1846510"/>
            <a:ext cx="190500" cy="200025"/>
          </a:xfrm>
          <a:prstGeom prst="rect">
            <a:avLst/>
          </a:prstGeom>
          <a:noFill/>
          <a:ln>
            <a:noFill/>
          </a:ln>
        </p:spPr>
      </p:pic>
      <p:pic>
        <p:nvPicPr>
          <p:cNvPr descr="image.png" id="139" name="Google Shape;139;p16"/>
          <p:cNvPicPr preferRelativeResize="0"/>
          <p:nvPr/>
        </p:nvPicPr>
        <p:blipFill rotWithShape="1">
          <a:blip r:embed="rId6">
            <a:alphaModFix/>
          </a:blip>
          <a:srcRect b="0" l="0" r="0" t="0"/>
          <a:stretch/>
        </p:blipFill>
        <p:spPr>
          <a:xfrm>
            <a:off x="571500" y="3377654"/>
            <a:ext cx="190500" cy="200025"/>
          </a:xfrm>
          <a:prstGeom prst="rect">
            <a:avLst/>
          </a:prstGeom>
          <a:noFill/>
          <a:ln>
            <a:noFill/>
          </a:ln>
        </p:spPr>
      </p:pic>
      <p:pic>
        <p:nvPicPr>
          <p:cNvPr descr="image.png" id="140" name="Google Shape;140;p16"/>
          <p:cNvPicPr preferRelativeResize="0"/>
          <p:nvPr/>
        </p:nvPicPr>
        <p:blipFill rotWithShape="1">
          <a:blip r:embed="rId6">
            <a:alphaModFix/>
          </a:blip>
          <a:srcRect b="0" l="0" r="0" t="0"/>
          <a:stretch/>
        </p:blipFill>
        <p:spPr>
          <a:xfrm>
            <a:off x="571500" y="4573637"/>
            <a:ext cx="19050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0D0D"/>
        </a:solidFill>
      </p:bgPr>
    </p:bg>
    <p:spTree>
      <p:nvGrpSpPr>
        <p:cNvPr id="144" name="Shape 144"/>
        <p:cNvGrpSpPr/>
        <p:nvPr/>
      </p:nvGrpSpPr>
      <p:grpSpPr>
        <a:xfrm>
          <a:off x="0" y="0"/>
          <a:ext cx="0" cy="0"/>
          <a:chOff x="0" y="0"/>
          <a:chExt cx="0" cy="0"/>
        </a:xfrm>
      </p:grpSpPr>
      <p:pic>
        <p:nvPicPr>
          <p:cNvPr descr="image.png" id="145" name="Google Shape;145;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6" name="Google Shape;146;p17"/>
          <p:cNvSpPr txBox="1"/>
          <p:nvPr/>
        </p:nvSpPr>
        <p:spPr>
          <a:xfrm>
            <a:off x="439388" y="298900"/>
            <a:ext cx="5550600" cy="623400"/>
          </a:xfrm>
          <a:prstGeom prst="rect">
            <a:avLst/>
          </a:prstGeom>
          <a:noFill/>
          <a:ln>
            <a:noFill/>
          </a:ln>
        </p:spPr>
        <p:txBody>
          <a:bodyPr anchorCtr="0" anchor="t" bIns="0" lIns="0" spcFirstLastPara="1" rIns="0" wrap="square" tIns="0">
            <a:spAutoFit/>
          </a:bodyPr>
          <a:lstStyle/>
          <a:p>
            <a:pPr indent="0" lvl="0" marL="0" marR="0" rtl="0" algn="l">
              <a:lnSpc>
                <a:spcPct val="119975"/>
              </a:lnSpc>
              <a:spcBef>
                <a:spcPts val="0"/>
              </a:spcBef>
              <a:spcAft>
                <a:spcPts val="0"/>
              </a:spcAft>
              <a:buNone/>
            </a:pPr>
            <a:r>
              <a:rPr b="1" i="0" lang="en-US" sz="4050" u="none" cap="none" strike="noStrike">
                <a:solidFill>
                  <a:srgbClr val="DEFF9A"/>
                </a:solidFill>
                <a:latin typeface="Urbanist"/>
                <a:ea typeface="Urbanist"/>
                <a:cs typeface="Urbanist"/>
                <a:sym typeface="Urbanist"/>
              </a:rPr>
              <a:t>Capstone Project</a:t>
            </a:r>
            <a:endParaRPr/>
          </a:p>
        </p:txBody>
      </p:sp>
      <p:pic>
        <p:nvPicPr>
          <p:cNvPr descr="image.png" id="147" name="Google Shape;147;p17"/>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48" name="Google Shape;148;p17"/>
          <p:cNvSpPr txBox="1"/>
          <p:nvPr/>
        </p:nvSpPr>
        <p:spPr>
          <a:xfrm>
            <a:off x="439400" y="1349080"/>
            <a:ext cx="5286300" cy="999000"/>
          </a:xfrm>
          <a:prstGeom prst="rect">
            <a:avLst/>
          </a:prstGeom>
          <a:noFill/>
          <a:ln>
            <a:noFill/>
          </a:ln>
        </p:spPr>
        <p:txBody>
          <a:bodyPr anchorCtr="0" anchor="t" bIns="0" lIns="0" spcFirstLastPara="1" rIns="0" wrap="square" tIns="0">
            <a:spAutoFit/>
          </a:bodyPr>
          <a:lstStyle/>
          <a:p>
            <a:pPr indent="0" lvl="0" marL="0" marR="0" rtl="0" algn="l">
              <a:lnSpc>
                <a:spcPct val="146666"/>
              </a:lnSpc>
              <a:spcBef>
                <a:spcPts val="0"/>
              </a:spcBef>
              <a:spcAft>
                <a:spcPts val="0"/>
              </a:spcAft>
              <a:buNone/>
            </a:pPr>
            <a:r>
              <a:rPr b="1" lang="en-US" sz="1650">
                <a:solidFill>
                  <a:srgbClr val="DEFF9A"/>
                </a:solidFill>
                <a:latin typeface="Urbanist"/>
                <a:ea typeface="Urbanist"/>
                <a:cs typeface="Urbanist"/>
                <a:sym typeface="Urbanist"/>
              </a:rPr>
              <a:t>                                          </a:t>
            </a:r>
            <a:r>
              <a:rPr b="1" i="0" lang="en-US" sz="1650" u="none" cap="none" strike="noStrike">
                <a:solidFill>
                  <a:srgbClr val="DEFF9A"/>
                </a:solidFill>
                <a:latin typeface="Urbanist"/>
                <a:ea typeface="Urbanist"/>
                <a:cs typeface="Urbanist"/>
                <a:sym typeface="Urbanist"/>
              </a:rPr>
              <a:t>Eco-Grid AI:</a:t>
            </a:r>
            <a:br>
              <a:rPr b="0" i="0" lang="en-US" sz="1800" u="none" cap="none" strike="noStrike">
                <a:solidFill>
                  <a:schemeClr val="dk1"/>
                </a:solidFill>
                <a:latin typeface="Calibri"/>
                <a:ea typeface="Calibri"/>
                <a:cs typeface="Calibri"/>
                <a:sym typeface="Calibri"/>
              </a:rPr>
            </a:br>
            <a:r>
              <a:rPr b="0" i="0" lang="en-US" sz="1650" u="none" cap="none" strike="noStrike">
                <a:solidFill>
                  <a:schemeClr val="lt1"/>
                </a:solidFill>
                <a:latin typeface="Urbanist"/>
                <a:ea typeface="Urbanist"/>
                <a:cs typeface="Urbanist"/>
                <a:sym typeface="Urbanist"/>
              </a:rPr>
              <a:t> An intelligent energy distribution model prioritizing local renewable sources for communities.</a:t>
            </a:r>
            <a:endParaRPr>
              <a:solidFill>
                <a:schemeClr val="lt1"/>
              </a:solidFill>
            </a:endParaRPr>
          </a:p>
        </p:txBody>
      </p:sp>
      <p:sp>
        <p:nvSpPr>
          <p:cNvPr id="149" name="Google Shape;149;p17"/>
          <p:cNvSpPr txBox="1"/>
          <p:nvPr/>
        </p:nvSpPr>
        <p:spPr>
          <a:xfrm>
            <a:off x="439400" y="2635713"/>
            <a:ext cx="5286300" cy="3105300"/>
          </a:xfrm>
          <a:prstGeom prst="rect">
            <a:avLst/>
          </a:prstGeom>
          <a:noFill/>
          <a:ln>
            <a:noFill/>
          </a:ln>
        </p:spPr>
        <p:txBody>
          <a:bodyPr anchorCtr="0" anchor="t" bIns="0" lIns="0" spcFirstLastPara="1" rIns="0" wrap="square" tIns="0">
            <a:spAutoFit/>
          </a:bodyPr>
          <a:lstStyle/>
          <a:p>
            <a:pPr indent="0" lvl="0" marL="0" marR="0" rtl="0" algn="l">
              <a:lnSpc>
                <a:spcPct val="146666"/>
              </a:lnSpc>
              <a:spcBef>
                <a:spcPts val="0"/>
              </a:spcBef>
              <a:spcAft>
                <a:spcPts val="0"/>
              </a:spcAft>
              <a:buNone/>
            </a:pPr>
            <a:r>
              <a:rPr lang="en-US" sz="1800">
                <a:solidFill>
                  <a:schemeClr val="lt1"/>
                </a:solidFill>
                <a:latin typeface="Calibri"/>
                <a:ea typeface="Calibri"/>
                <a:cs typeface="Calibri"/>
                <a:sym typeface="Calibri"/>
              </a:rPr>
              <a:t>Predictive Forecasting </a:t>
            </a:r>
            <a:endParaRPr sz="1800">
              <a:solidFill>
                <a:schemeClr val="lt1"/>
              </a:solidFill>
              <a:latin typeface="Calibri"/>
              <a:ea typeface="Calibri"/>
              <a:cs typeface="Calibri"/>
              <a:sym typeface="Calibri"/>
            </a:endParaRPr>
          </a:p>
          <a:p>
            <a:pPr indent="0" lvl="0" marL="0" marR="0" rtl="0" algn="l">
              <a:lnSpc>
                <a:spcPct val="146666"/>
              </a:lnSpc>
              <a:spcBef>
                <a:spcPts val="0"/>
              </a:spcBef>
              <a:spcAft>
                <a:spcPts val="0"/>
              </a:spcAft>
              <a:buNone/>
            </a:pPr>
            <a:r>
              <a:rPr lang="en-US" sz="1800">
                <a:solidFill>
                  <a:schemeClr val="lt1"/>
                </a:solidFill>
                <a:latin typeface="Calibri"/>
                <a:ea typeface="Calibri"/>
                <a:cs typeface="Calibri"/>
                <a:sym typeface="Calibri"/>
              </a:rPr>
              <a:t>Automated Load Balancing </a:t>
            </a:r>
            <a:endParaRPr sz="1800">
              <a:solidFill>
                <a:schemeClr val="lt1"/>
              </a:solidFill>
              <a:latin typeface="Calibri"/>
              <a:ea typeface="Calibri"/>
              <a:cs typeface="Calibri"/>
              <a:sym typeface="Calibri"/>
            </a:endParaRPr>
          </a:p>
          <a:p>
            <a:pPr indent="0" lvl="0" marL="0" marR="0" rtl="0" algn="l">
              <a:lnSpc>
                <a:spcPct val="146666"/>
              </a:lnSpc>
              <a:spcBef>
                <a:spcPts val="0"/>
              </a:spcBef>
              <a:spcAft>
                <a:spcPts val="0"/>
              </a:spcAft>
              <a:buNone/>
            </a:pPr>
            <a:r>
              <a:rPr lang="en-US" sz="1800">
                <a:solidFill>
                  <a:schemeClr val="lt1"/>
                </a:solidFill>
                <a:latin typeface="Calibri"/>
                <a:ea typeface="Calibri"/>
                <a:cs typeface="Calibri"/>
                <a:sym typeface="Calibri"/>
              </a:rPr>
              <a:t>Community Impact (SDG 17) </a:t>
            </a:r>
            <a:endParaRPr sz="1800">
              <a:solidFill>
                <a:schemeClr val="lt1"/>
              </a:solidFill>
              <a:latin typeface="Calibri"/>
              <a:ea typeface="Calibri"/>
              <a:cs typeface="Calibri"/>
              <a:sym typeface="Calibri"/>
            </a:endParaRPr>
          </a:p>
          <a:p>
            <a:pPr indent="0" lvl="0" marL="0" marR="0" rtl="0" algn="l">
              <a:lnSpc>
                <a:spcPct val="146666"/>
              </a:lnSpc>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l">
              <a:lnSpc>
                <a:spcPct val="146666"/>
              </a:lnSpc>
              <a:spcBef>
                <a:spcPts val="0"/>
              </a:spcBef>
              <a:spcAft>
                <a:spcPts val="0"/>
              </a:spcAft>
              <a:buNone/>
            </a:pPr>
            <a:r>
              <a:rPr b="1" lang="en-US">
                <a:solidFill>
                  <a:schemeClr val="lt1"/>
                </a:solidFill>
              </a:rPr>
              <a:t>Eco-Grid AI</a:t>
            </a:r>
            <a:r>
              <a:rPr lang="en-US">
                <a:solidFill>
                  <a:schemeClr val="lt1"/>
                </a:solidFill>
              </a:rPr>
              <a:t> operates on the theory of intelligent load balancing. It uses machine learning to predict weather patterns and energy usage, automatically routing local renewable power to immediate areas of demand. This eliminates waste and creates a self-sustaining, zero-emission community microgrid. </a:t>
            </a:r>
            <a:endParaRPr sz="2100">
              <a:solidFill>
                <a:schemeClr val="lt1"/>
              </a:solidFill>
              <a:latin typeface="Calibri"/>
              <a:ea typeface="Calibri"/>
              <a:cs typeface="Calibri"/>
              <a:sym typeface="Calibri"/>
            </a:endParaRPr>
          </a:p>
        </p:txBody>
      </p:sp>
      <p:sp>
        <p:nvSpPr>
          <p:cNvPr id="150" name="Google Shape;150;p17"/>
          <p:cNvSpPr txBox="1"/>
          <p:nvPr/>
        </p:nvSpPr>
        <p:spPr>
          <a:xfrm>
            <a:off x="571500" y="6797575"/>
            <a:ext cx="5286375" cy="60424"/>
          </a:xfrm>
          <a:prstGeom prst="rect">
            <a:avLst/>
          </a:prstGeom>
          <a:noFill/>
          <a:ln>
            <a:noFill/>
          </a:ln>
        </p:spPr>
        <p:txBody>
          <a:bodyPr anchorCtr="0" anchor="t" bIns="0" lIns="0" spcFirstLastPara="1" rIns="0" wrap="square" tIns="0">
            <a:spAutoFit/>
          </a:bodyPr>
          <a:lstStyle/>
          <a:p>
            <a:pPr indent="0" lvl="0" marL="0" marR="0" rtl="0" algn="l">
              <a:lnSpc>
                <a:spcPct val="146666"/>
              </a:lnSpc>
              <a:spcBef>
                <a:spcPts val="0"/>
              </a:spcBef>
              <a:spcAft>
                <a:spcPts val="0"/>
              </a:spcAft>
              <a:buNone/>
            </a:pPr>
            <a:r>
              <a:rPr b="1" i="0" lang="en-US" sz="1650" u="none" cap="none" strike="noStrike">
                <a:solidFill>
                  <a:srgbClr val="DEFF9A"/>
                </a:solidFill>
                <a:latin typeface="Urbanist"/>
                <a:ea typeface="Urbanist"/>
                <a:cs typeface="Urbanist"/>
                <a:sym typeface="Urbanist"/>
              </a:rPr>
              <a:t>4. Agri-Smart Network:</a:t>
            </a:r>
            <a:br>
              <a:rPr b="0" i="0" lang="en-US" sz="1800" u="none" cap="none" strike="noStrike">
                <a:solidFill>
                  <a:schemeClr val="dk1"/>
                </a:solidFill>
                <a:latin typeface="Calibri"/>
                <a:ea typeface="Calibri"/>
                <a:cs typeface="Calibri"/>
                <a:sym typeface="Calibri"/>
              </a:rPr>
            </a:br>
            <a:r>
              <a:rPr b="0" i="0" lang="en-US" sz="1650" u="none" cap="none" strike="noStrike">
                <a:solidFill>
                  <a:srgbClr val="CFCFCF"/>
                </a:solidFill>
                <a:latin typeface="Urbanist"/>
                <a:ea typeface="Urbanist"/>
                <a:cs typeface="Urbanist"/>
                <a:sym typeface="Urbanist"/>
              </a:rPr>
              <a:t> Combining IoT sensors and AI to optimize water and fertilizer usage in sustainable agriculture.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